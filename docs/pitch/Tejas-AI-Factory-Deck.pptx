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Open: You cannot learn autonomous cooling on live H100s.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Mid-market has no way to practice before flipping the switch.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Fear frame — then offer sandbox.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give a sandbox that looks like their hall.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 demo. End on VR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Phaidra-class principle, mid-market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Commercial: shadow low/free, savings-share after they choose.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EMOTIONAL PEAK. Put phone in their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Chennai tech practiced in VR before the outage.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Chat: "Is any machine going down?"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Shadow puts THEIR historian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for greenfield with zero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They flip the switch — we don't force autonomous.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CTA: calendar hold for shadow scoping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TEJAS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ADCFC"/>
                </a:solidFill>
              </a:defRPr>
            </a:pPr>
            <a:r>
              <a:t>The AI factory testing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2C39A"/>
                </a:solidFill>
              </a:defRPr>
            </a:pPr>
            <a:r>
              <a:t>Train autonomous control · Stress the twin · Repair in VR · Deploy when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C6FF"/>
                </a:solidFill>
              </a:defRPr>
            </a:pPr>
            <a:r>
              <a:t>तेजस् · On-prem · Sovereign · Built for GPU halls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95C"/>
                </a:solidFill>
              </a:defRPr>
            </a:pPr>
            <a:r>
              <a:t>AI factories broke the old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Seconds to act · Weeks of jobs at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Rack power spikes before inlet temp — you have seconds, not minutes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One cooling trip = ₹2+ Cr lost compute + SLA penalties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Phaidra proved autonomous control on NVIDIA-scale halls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Everyone else still runs 1990s rule-based BMS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840480"/>
            <a:ext cx="228600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931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30–40%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06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ADCFC"/>
                </a:solidFill>
              </a:defRPr>
            </a:pPr>
            <a:r>
              <a:t>of power = cooling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95C"/>
                </a:solidFill>
              </a:defRPr>
            </a:pPr>
            <a:r>
              <a:t>The real hall is not a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❌  Live: failed job = customer churn          →  ✅  Twin: heat wave in one drag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❌  Live: wrong setpoint = chip throttle       →  ✅  Twin: chiller trip — recover in sim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❌  Live: no rollback for the board            →  ✅  Shadow: log would-do vs your BMS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❌  Live: MoC / insurance nightmare            →  ✅  Trust ladder with instant revert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5A82"/>
                </a:solidFill>
              </a:defRPr>
            </a:pPr>
            <a:r>
              <a:t>"Would you let an untested AI drive your GPUs on Thursday's 47°C day?"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95C"/>
                </a:solidFill>
              </a:defRPr>
            </a:pPr>
            <a:r>
              <a:t>Tejas = your AI factory testing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Full physics twin · Zero risk to silicon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Calibrated digital twin — topology + historian, not a drawing toy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Autonomous brain vs baseline — live PUE 1.3 vs 1.5 at 47°C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Stress: heat waves · load spikes · chiller trips · GPU faults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Graduate path: Twin → Shadow (read-only) → Advise → You take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2C39A"/>
                </a:solidFill>
              </a:defRPr>
            </a:pPr>
            <a:r>
              <a:t>DEMO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ADCFC"/>
                </a:solidFill>
              </a:defRPr>
            </a:pPr>
            <a:r>
              <a:t>1. /datacenter — Autonomous Control · PUE live</a:t>
            </a:r>
          </a:p>
          <a:p>
            <a:pPr>
              <a:spcAft>
                <a:spcPts val="800"/>
              </a:spcAft>
              <a:defRPr sz="1400">
                <a:solidFill>
                  <a:srgbClr val="CADCFC"/>
                </a:solidFill>
              </a:defRPr>
            </a:pPr>
            <a:r>
              <a:t>2. Weather → 47°C — baseline panics · Tejas holds</a:t>
            </a:r>
          </a:p>
          <a:p>
            <a:pPr>
              <a:spcAft>
                <a:spcPts val="800"/>
              </a:spcAft>
              <a:defRPr sz="1400">
                <a:solidFill>
                  <a:srgbClr val="CADCFC"/>
                </a:solidFill>
              </a:defRPr>
            </a:pPr>
            <a:r>
              <a:t>3. "Is any machine going down?" → GPU-16 red</a:t>
            </a:r>
          </a:p>
          <a:p>
            <a:pPr>
              <a:spcAft>
                <a:spcPts val="800"/>
              </a:spcAft>
              <a:defRPr sz="1400">
                <a:solidFill>
                  <a:srgbClr val="CADCFC"/>
                </a:solidFill>
              </a:defRPr>
            </a:pPr>
            <a:r>
              <a:t>4. Hand phone → /vr — stand inside the hall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95C"/>
                </a:solidFill>
              </a:defRPr>
            </a:pPr>
            <a:r>
              <a:t>What the testing environment trains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Feed-forward control — the AI factory requirement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Acts on rack power + weather before inlet spikes (&lt;10s)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Explains every move — heat wave COP protection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Dual run: Tejas vs dumb BMS — savings gap visible live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Shadow on real hall: their historian proves ₹ before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95C"/>
                </a:solidFill>
              </a:defRPr>
            </a:pPr>
            <a:r>
              <a:t>You graduate — not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From testing env to real hall on your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91640"/>
            <a:ext cx="1572768" cy="201168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828800"/>
            <a:ext cx="157276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Twin</a:t>
            </a:r>
            <a:br/>
            <a:r>
              <a:t>(test)</a:t>
            </a:r>
          </a:p>
        </p:txBody>
      </p:sp>
      <p:sp>
        <p:nvSpPr>
          <p:cNvPr id="7" name="Rectangle 6"/>
          <p:cNvSpPr/>
          <p:nvPr/>
        </p:nvSpPr>
        <p:spPr>
          <a:xfrm>
            <a:off x="2039112" y="1691640"/>
            <a:ext cx="1572768" cy="201168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39112" y="1828800"/>
            <a:ext cx="157276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Shadow</a:t>
            </a:r>
            <a:br/>
            <a:r>
              <a:t>(read-only)</a:t>
            </a:r>
          </a:p>
        </p:txBody>
      </p:sp>
      <p:sp>
        <p:nvSpPr>
          <p:cNvPr id="9" name="Rectangle 8"/>
          <p:cNvSpPr/>
          <p:nvPr/>
        </p:nvSpPr>
        <p:spPr>
          <a:xfrm>
            <a:off x="3758183" y="1691640"/>
            <a:ext cx="1572768" cy="201168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58183" y="1828800"/>
            <a:ext cx="157276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Advise</a:t>
            </a:r>
            <a:br/>
            <a:r>
              <a:t>(you apply)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77255" y="1691640"/>
            <a:ext cx="1572768" cy="2011680"/>
          </a:xfrm>
          <a:prstGeom prst="rect">
            <a:avLst/>
          </a:prstGeom>
          <a:solidFill>
            <a:srgbClr val="FFFFFF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77255" y="1828800"/>
            <a:ext cx="157276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1295C"/>
                </a:solidFill>
              </a:defRPr>
            </a:pPr>
            <a:r>
              <a:t>Supervised</a:t>
            </a:r>
            <a:br/>
            <a:r>
              <a:t>(confirm)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96327" y="1691640"/>
            <a:ext cx="1572768" cy="2011680"/>
          </a:xfrm>
          <a:prstGeom prst="rect">
            <a:avLst/>
          </a:prstGeom>
          <a:solidFill>
            <a:srgbClr val="FFFFFF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7" y="1828800"/>
            <a:ext cx="157276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1295C"/>
                </a:solidFill>
              </a:defRPr>
            </a:pPr>
            <a:r>
              <a:t>Autonomous</a:t>
            </a:r>
            <a:br/>
            <a:r>
              <a:t>(you own)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5A82"/>
                </a:solidFill>
              </a:defRPr>
            </a:pPr>
            <a:r>
              <a:t>We hand you the keys when YOUR data says yes.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Repair in VR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</a:defRPr>
            </a:pPr>
            <a:r>
              <a:t>Less downtime · Less cost · Never walk blind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AAAA"/>
                </a:solidFill>
              </a:defRPr>
            </a:pPr>
            <a:r>
              <a:t>2:14 AM alarm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C39A"/>
                </a:solidFill>
              </a:defRPr>
            </a:pPr>
            <a:r>
              <a:t>→  GPU-16 flagged 14 months early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AAAA"/>
                </a:solidFill>
              </a:defRPr>
            </a:pPr>
            <a:r>
              <a:t>Senior tech on a plane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C39A"/>
                </a:solidFill>
              </a:defRPr>
            </a:pPr>
            <a:r>
              <a:t>→  VR walk to exact rack — junior on 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AAAA"/>
                </a:solidFill>
              </a:defRPr>
            </a:pPr>
            <a:r>
              <a:t>Open rack blind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154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C39A"/>
                </a:solidFill>
              </a:defRPr>
            </a:pPr>
            <a:r>
              <a:t>→  Exploded design — filter, fan tray, busbar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AAAA"/>
                </a:solidFill>
              </a:defRPr>
            </a:pPr>
            <a:r>
              <a:t>₹2+ Cr outage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C39A"/>
                </a:solidFill>
              </a:defRPr>
            </a:pPr>
            <a:r>
              <a:t>→  25-min planned fix · parts pre-staged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95C"/>
                </a:solidFill>
              </a:defRPr>
            </a:pPr>
            <a:r>
              <a:t>VR repair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Walk in · Pick · Inspect · Fix · Blue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Scan QR → stand inside live twin (/vr)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Walk to GPU-16 — pulsing red · reticle pick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Aspect lenses — cooling path: filter + fan tray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Field AR on site — 4-step checklist · rack turns blue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Desktop syncs — work order closed automatically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95C"/>
                </a:solidFill>
              </a:defRPr>
            </a:pPr>
            <a:r>
              <a:t>Predict in twin · Practice in VR · Fix on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Inlet 3.4°C hotter than load explains — 14-month creep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Root cause: CRAC-2 filter + rear fan-tray bearing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Work order + email with exact parts drafted automatically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Caught in testing twin → validated on historian in shadow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95C"/>
                </a:solidFill>
              </a:defRPr>
            </a:pPr>
            <a:r>
              <a:t>What the testing env proves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12 MW GPU hall · before one setpoint hits silicon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8404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295C"/>
                </a:solidFill>
              </a:defRPr>
            </a:pPr>
            <a:r>
              <a:t>₹1.8–3.2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cooling saved/yr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554480"/>
            <a:ext cx="38404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6459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295C"/>
                </a:solidFill>
              </a:defRPr>
            </a:pPr>
            <a:r>
              <a:t>₹2+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0574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one avoided outage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88920"/>
            <a:ext cx="38404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803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295C"/>
                </a:solidFill>
              </a:defRPr>
            </a:pPr>
            <a:r>
              <a:t>₹8.3L+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9183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per PM fix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788920"/>
            <a:ext cx="38404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8803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295C"/>
                </a:solidFill>
              </a:defRPr>
            </a:pPr>
            <a:r>
              <a:t>₹90–160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29183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50-hall fleet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95C"/>
                </a:solidFill>
              </a:defRPr>
            </a:pPr>
            <a:r>
              <a:t>Built for halls Phaidra doesn't serve — yet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GPU colo / edge AI DC — sovereign on-prem testing sandbox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Enterprise AI lab — internal team owns control policy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DC adding GPU block — test liquid + air mix before go-live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ESCO / integrator — white-label testing env for customers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95C"/>
                </a:solidFill>
              </a:defRPr>
            </a:pPr>
            <a:r>
              <a:t>Pay for proof — not promises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Twin build / testing env — paid on-ramp (credited to Y1)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Shadow 30 days — read-only · would-do report · low / free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Advisory + control — savings-share 20–40% when THEY graduate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Land-and-expand: one hall → campus → 50-site fleet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ADCFC"/>
                </a:solidFill>
              </a:defRPr>
            </a:pPr>
            <a:r>
              <a:t>Don't learn autonomous cooling on live GPUs.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8046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Learn it in the twin.</a:t>
            </a:r>
            <a:br/>
            <a:r>
              <a:t>Repair it in VR.</a:t>
            </a:r>
            <a:br/>
            <a:r>
              <a:t>Own the real hall when you're 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2C39A"/>
                </a:solidFill>
              </a:defRPr>
            </a:pPr>
            <a:r>
              <a:t>30 days read-only on your historian.</a:t>
            </a:r>
            <a:br/>
            <a:r>
              <a:t>We build your testing environment — and show you the rack you'd lose on a 47°C Thursday.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